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5" r:id="rId3"/>
    <p:sldId id="353" r:id="rId4"/>
    <p:sldId id="366" r:id="rId5"/>
    <p:sldId id="367" r:id="rId6"/>
    <p:sldId id="368" r:id="rId7"/>
    <p:sldId id="369" r:id="rId8"/>
    <p:sldId id="370" r:id="rId9"/>
    <p:sldId id="372" r:id="rId10"/>
    <p:sldId id="371" r:id="rId11"/>
    <p:sldId id="256" r:id="rId12"/>
  </p:sldIdLst>
  <p:sldSz cx="12192000" cy="6858000"/>
  <p:notesSz cx="6858000" cy="9144000"/>
  <p:embeddedFontLst>
    <p:embeddedFont>
      <p:font typeface="微软雅黑" panose="020B0503020204020204" pitchFamily="34" charset="-122"/>
      <p:regular r:id="rId18"/>
      <p:bold r:id="rId19"/>
    </p:embeddedFont>
    <p:embeddedFont>
      <p:font typeface="Georgia" panose="02040502050405020303" pitchFamily="18" charset="0"/>
      <p:regular r:id="rId20"/>
      <p:bold r:id="rId21"/>
      <p:italic r:id="rId22"/>
      <p:boldItalic r:id="rId23"/>
    </p:embeddedFont>
    <p:embeddedFont>
      <p:font typeface="微软雅黑 Light" panose="020B0502040204020203" pitchFamily="34" charset="-122"/>
      <p:regular r:id="rId24"/>
    </p:embeddedFont>
    <p:embeddedFont>
      <p:font typeface="SimSun-ExtB" panose="02010609060101010101" charset="-122"/>
      <p:regular r:id="rId25"/>
    </p:embeddedFont>
    <p:embeddedFont>
      <p:font typeface="等线 Light" panose="02010600030101010101" charset="-122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2831"/>
    <a:srgbClr val="2F5597"/>
    <a:srgbClr val="D83F43"/>
    <a:srgbClr val="F1A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" y="101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8356-38BE-4373-BCC0-182633234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27EC-913C-4067-A3DF-D1ED51C189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8356-38BE-4373-BCC0-182633234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27EC-913C-4067-A3DF-D1ED51C189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8356-38BE-4373-BCC0-182633234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27EC-913C-4067-A3DF-D1ED51C189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8356-38BE-4373-BCC0-182633234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27EC-913C-4067-A3DF-D1ED51C189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8356-38BE-4373-BCC0-182633234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27EC-913C-4067-A3DF-D1ED51C189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8356-38BE-4373-BCC0-182633234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27EC-913C-4067-A3DF-D1ED51C189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8356-38BE-4373-BCC0-182633234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27EC-913C-4067-A3DF-D1ED51C189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8356-38BE-4373-BCC0-182633234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27EC-913C-4067-A3DF-D1ED51C189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8356-38BE-4373-BCC0-182633234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27EC-913C-4067-A3DF-D1ED51C189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8356-38BE-4373-BCC0-182633234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27EC-913C-4067-A3DF-D1ED51C189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8356-38BE-4373-BCC0-182633234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27EC-913C-4067-A3DF-D1ED51C189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34D8356-38BE-4373-BCC0-182633234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AA27EC-913C-4067-A3DF-D1ED51C189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https://kindxiaoming.github.io/pykan/_images/intro_15_0.png</a:t>
            </a:r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1004099" y="1187455"/>
            <a:ext cx="10175966" cy="4859383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1449705" y="1512570"/>
            <a:ext cx="936879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2F5597"/>
                </a:solidFill>
                <a:latin typeface="Georgia" panose="02040502050405020303" pitchFamily="18" charset="0"/>
                <a:ea typeface="微软雅黑 Light" panose="020B0502040204020203" pitchFamily="34" charset="-122"/>
              </a:rPr>
              <a:t>Doublet identification in single-cell sequencing data using </a:t>
            </a:r>
            <a:r>
              <a:rPr lang="en-US" altLang="zh-CN" sz="3600" dirty="0">
                <a:solidFill>
                  <a:srgbClr val="FF0000"/>
                </a:solidFill>
                <a:latin typeface="Georgia" panose="02040502050405020303" pitchFamily="18" charset="0"/>
                <a:ea typeface="微软雅黑 Light" panose="020B0502040204020203" pitchFamily="34" charset="-122"/>
              </a:rPr>
              <a:t>scDblFinder</a:t>
            </a:r>
            <a:endParaRPr lang="en-US" altLang="zh-CN" sz="3600" dirty="0">
              <a:solidFill>
                <a:srgbClr val="FF0000"/>
              </a:solidFill>
              <a:latin typeface="Georgia" panose="02040502050405020303" pitchFamily="18" charset="0"/>
              <a:ea typeface="微软雅黑 Light" panose="020B0502040204020203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40205" y="50361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廖任鹏</a:t>
            </a:r>
            <a:endParaRPr lang="zh-CN" alt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570355" y="3762375"/>
            <a:ext cx="830707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scDblFinder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在单细胞测序数据中识别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2F5597"/>
                </a:solidFill>
                <a:latin typeface="Georgia" panose="02040502050405020303" pitchFamily="18" charset="0"/>
                <a:ea typeface="微软雅黑 Light" panose="020B0502040204020203" pitchFamily="34" charset="-122"/>
                <a:sym typeface="+mn-ea"/>
              </a:rPr>
              <a:t>Doublet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026" y="202550"/>
            <a:ext cx="2001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2320" y="437515"/>
            <a:ext cx="7727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一、原理解读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82320" y="898094"/>
            <a:ext cx="10214620" cy="5263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5400" y="0"/>
            <a:ext cx="3808095" cy="67945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82320" y="1304290"/>
            <a:ext cx="561530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选择高变基因（默认为平均值最大的前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多个基因）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去除表达量极高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极低的细胞（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0.95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分位数的细胞）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随机构造任意细胞对，模拟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人工双细胞；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流程如下：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）将两个细胞的表达直接加起来。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）对部分（默认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0.25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）人工双细胞，将其表达值除以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，模拟测序过程中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数据被部分捕获。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）对部分（默认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0.25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）人工双细胞的表达值进行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泊松重采样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，以模拟测序过程中的离散性和技术噪声。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026" y="202550"/>
            <a:ext cx="2001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2320" y="437515"/>
            <a:ext cx="7727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一、原理解读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——cxds 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打分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82320" y="898094"/>
            <a:ext cx="10214620" cy="5263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82320" y="1164590"/>
            <a:ext cx="892619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cxds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用于计算单细胞表达矩阵中每个细胞可能是双细胞（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doublet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）的得分。它基于基因共表达反常（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co-expression deviation)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的想法，来自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Bais &amp; Kostka 2020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的方法，是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scds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包的核心之一。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scDblFinder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在实现上做了一些改进。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3080" y="2145030"/>
            <a:ext cx="7185660" cy="4154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026" y="202550"/>
            <a:ext cx="2001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2320" y="437515"/>
            <a:ext cx="7727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一、原理解读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整合特征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82320" y="898094"/>
            <a:ext cx="10214620" cy="5263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69925" y="1237615"/>
            <a:ext cx="50539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合并原始细胞跟人工双胞，进行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降维，通过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KNN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获取每个细胞的比例、权重等信息，结合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cxds_score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整合出右边的特征矩阵。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845" y="950595"/>
            <a:ext cx="5692140" cy="48691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026" y="202550"/>
            <a:ext cx="2001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2320" y="437515"/>
            <a:ext cx="7727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一、原理解读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xgboost 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迭代训练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82320" y="898094"/>
            <a:ext cx="10214620" cy="5263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34390" y="1179830"/>
            <a:ext cx="914717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初始化打分（平均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cxds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ratio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: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600">
                <a:latin typeface="SimSun-ExtB" panose="02010609060101010101" charset="-122"/>
                <a:ea typeface="SimSun-ExtB" panose="02010609060101010101" charset="-122"/>
                <a:cs typeface="宋体" panose="02010600030101010101" pitchFamily="2" charset="-122"/>
              </a:rPr>
              <a:t>d$score &lt;- (d$cxds_score + d[[ratio]]/max(d[[ratio]]))/2</a:t>
            </a:r>
            <a:endParaRPr lang="en-US" altLang="zh-CN" sz="1600">
              <a:latin typeface="SimSun-ExtB" panose="02010609060101010101" charset="-122"/>
              <a:ea typeface="SimSun-ExtB" panose="02010609060101010101" charset="-122"/>
              <a:cs typeface="宋体" panose="02010600030101010101" pitchFamily="2" charset="-122"/>
            </a:endParaRPr>
          </a:p>
          <a:p>
            <a:endParaRPr lang="en-US" altLang="zh-CN" sz="1600">
              <a:latin typeface="SimSun-ExtB" panose="02010609060101010101" charset="-122"/>
              <a:ea typeface="SimSun-ExtB" panose="02010609060101010101" charset="-122"/>
              <a:cs typeface="宋体" panose="02010600030101010101" pitchFamily="2" charset="-122"/>
            </a:endParaRPr>
          </a:p>
          <a:p>
            <a:r>
              <a:rPr lang="zh-CN" altLang="en-US" sz="1600">
                <a:latin typeface="SimSun-ExtB" panose="02010609060101010101" charset="-122"/>
                <a:ea typeface="SimSun-ExtB" panose="02010609060101010101" charset="-122"/>
                <a:cs typeface="宋体" panose="02010600030101010101" pitchFamily="2" charset="-122"/>
              </a:rPr>
              <a:t>跟</a:t>
            </a:r>
            <a:r>
              <a:rPr lang="en-US" altLang="zh-CN" sz="1600">
                <a:latin typeface="SimSun-ExtB" panose="02010609060101010101" charset="-122"/>
                <a:ea typeface="SimSun-ExtB" panose="02010609060101010101" charset="-122"/>
                <a:cs typeface="宋体" panose="02010600030101010101" pitchFamily="2" charset="-122"/>
              </a:rPr>
              <a:t> </a:t>
            </a:r>
            <a:r>
              <a:rPr lang="en-US" altLang="zh-CN" sz="1600">
                <a:latin typeface="SimSun-ExtB" panose="02010609060101010101" charset="-122"/>
                <a:ea typeface="SimSun-ExtB" panose="02010609060101010101" charset="-122"/>
                <a:cs typeface="宋体" panose="02010600030101010101" pitchFamily="2" charset="-122"/>
                <a:sym typeface="+mn-ea"/>
              </a:rPr>
              <a:t>cxds_score </a:t>
            </a:r>
            <a:r>
              <a:rPr lang="zh-CN" altLang="en-US" sz="1600">
                <a:latin typeface="SimSun-ExtB" panose="02010609060101010101" charset="-122"/>
                <a:ea typeface="SimSun-ExtB" panose="02010609060101010101" charset="-122"/>
                <a:cs typeface="宋体" panose="02010600030101010101" pitchFamily="2" charset="-122"/>
                <a:sym typeface="+mn-ea"/>
              </a:rPr>
              <a:t>的分布区别</a:t>
            </a:r>
            <a:r>
              <a:rPr lang="zh-CN" altLang="en-US" sz="1600">
                <a:latin typeface="SimSun-ExtB" panose="02010609060101010101" charset="-122"/>
                <a:ea typeface="SimSun-ExtB" panose="02010609060101010101" charset="-122"/>
                <a:cs typeface="宋体" panose="02010600030101010101" pitchFamily="2" charset="-122"/>
                <a:sym typeface="+mn-ea"/>
              </a:rPr>
              <a:t>不大</a:t>
            </a:r>
            <a:endParaRPr lang="zh-CN" altLang="en-US" sz="1600">
              <a:latin typeface="SimSun-ExtB" panose="02010609060101010101" charset="-122"/>
              <a:ea typeface="SimSun-ExtB" panose="02010609060101010101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5890" y="2239010"/>
            <a:ext cx="6153785" cy="3566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026" y="202550"/>
            <a:ext cx="2001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2320" y="437515"/>
            <a:ext cx="7727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一、原理解读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xgboost 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迭代训练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82320" y="898094"/>
            <a:ext cx="10214620" cy="5263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05" y="1313815"/>
            <a:ext cx="5311140" cy="22174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076190" y="1257300"/>
            <a:ext cx="6792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注意代码中的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th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变量，即阈值，如何获得？</a:t>
            </a:r>
            <a:endParaRPr lang="en-US" altLang="zh-CN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415" y="1985010"/>
            <a:ext cx="7220585" cy="343535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039360" y="4892040"/>
            <a:ext cx="6945630" cy="471170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3450" y="62865"/>
            <a:ext cx="6178550" cy="57886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91026" y="202550"/>
            <a:ext cx="2001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2320" y="437515"/>
            <a:ext cx="7727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一、原理解读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xgboost 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迭代训练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82320" y="898094"/>
            <a:ext cx="10214620" cy="5263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35330" y="1122680"/>
            <a:ext cx="2893695" cy="554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寻找最佳</a:t>
            </a:r>
            <a:r>
              <a:rPr lang="en-US" altLang="zh-CN"/>
              <a:t> doublet </a:t>
            </a:r>
            <a:r>
              <a:rPr lang="zh-CN" altLang="en-US"/>
              <a:t>阈值</a:t>
            </a:r>
            <a:r>
              <a:rPr lang="en-US" altLang="zh-CN"/>
              <a:t> th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30" y="2045335"/>
            <a:ext cx="4623435" cy="17189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" y="4024630"/>
            <a:ext cx="6697345" cy="267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026" y="202550"/>
            <a:ext cx="2001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2320" y="437515"/>
            <a:ext cx="7727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一、原理解读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xgboost 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迭代训练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82320" y="898094"/>
            <a:ext cx="10214620" cy="5263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35330" y="1122680"/>
            <a:ext cx="8874760" cy="554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寻找最佳</a:t>
            </a:r>
            <a:r>
              <a:rPr lang="en-US" altLang="zh-CN"/>
              <a:t> doublet </a:t>
            </a:r>
            <a:r>
              <a:rPr lang="zh-CN" altLang="en-US"/>
              <a:t>阈值</a:t>
            </a:r>
            <a:r>
              <a:rPr lang="en-US" altLang="zh-CN"/>
              <a:t> th</a:t>
            </a:r>
            <a:r>
              <a:rPr lang="zh-CN" altLang="en-US"/>
              <a:t>：成本函数曲线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1597025"/>
            <a:ext cx="8936990" cy="51282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026" y="202550"/>
            <a:ext cx="2001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2320" y="437515"/>
            <a:ext cx="7727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一、原理解读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xgboost 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迭代训练</a:t>
            </a:r>
            <a:endParaRPr lang="zh-CN" altLang="en-US" sz="2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82320" y="898094"/>
            <a:ext cx="10214620" cy="5263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05" y="1724025"/>
            <a:ext cx="8696960" cy="50869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82320" y="1308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最终得分以及最后的</a:t>
            </a:r>
            <a:r>
              <a:rPr lang="zh-CN" altLang="en-US"/>
              <a:t>阈值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1004099" y="1187455"/>
            <a:ext cx="10175966" cy="4859383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1333181" y="1664325"/>
            <a:ext cx="721667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88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谢谢您的聆听！</a:t>
            </a:r>
            <a:endParaRPr lang="zh-CN" altLang="en-US" sz="88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U1YzJkNTQ2ODI1MjQ3Y2NhODVlMDRkMzViZmU2ZDAifQ=="/>
  <p:tag name="commondata" val="eyJjb3VudCI6MSwiaGRpZCI6IjNlNjA1Y2RiMmE3NmY2M2MwOGU3ZDE3YTc4MGQ1MjJkIiwidXNlckNvdW50IjoxfQ=="/>
  <p:tag name="resource_record_key" val="{&quot;29&quot;:[50053052,50053017,50053121],&quot;70&quot;:[3322089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</Words>
  <Application>WPS 演示</Application>
  <PresentationFormat>宽屏</PresentationFormat>
  <Paragraphs>75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Georgia</vt:lpstr>
      <vt:lpstr>微软雅黑 Light</vt:lpstr>
      <vt:lpstr>SimSun-ExtB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 子君</dc:creator>
  <cp:lastModifiedBy>Liripo</cp:lastModifiedBy>
  <cp:revision>274</cp:revision>
  <dcterms:created xsi:type="dcterms:W3CDTF">2019-11-26T06:41:00Z</dcterms:created>
  <dcterms:modified xsi:type="dcterms:W3CDTF">2026-06-11T09:23:34Z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066E3DD501794C50B0B9C4712556DD56_11</vt:lpwstr>
  </property>
  <property fmtid="{D5CDD505-2E9C-101B-9397-08002B2CF9AE}" pid="3" name="KSOProductBuildVer">
    <vt:lpwstr>2052-12.1.0.26895</vt:lpwstr>
  </property>
  <property fmtid="{D5CDD505-2E9C-101B-9397-08002B2CF9AE}" pid="4" name="KSOTemplateUUID">
    <vt:lpwstr>v1.0_mb_jHjJwk9ncH8Q40r95tx9/A==</vt:lpwstr>
  </property>
</Properties>
</file>